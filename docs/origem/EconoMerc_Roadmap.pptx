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46120"/>
            <a:ext cx="82296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VISUAL DE PRODUTO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EconoMerc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0040" y="4617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controle de compras à economia guiada por Inteligência Artificial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  •  Preparado por Mateus Bonfim de Souza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5029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do Produto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pilares que evoluem de forma incremental, cada um construindo sobre a base de dados do anterior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3756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33756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714500" y="224028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812" y="2450592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Controle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Escaneamento de produtos, soma automática do carrinho e categorização inteligente das compras em tempo real.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1828800"/>
            <a:ext cx="333756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1828800"/>
            <a:ext cx="333756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9"/>
          <p:cNvSpPr/>
          <p:nvPr/>
        </p:nvSpPr>
        <p:spPr>
          <a:xfrm>
            <a:off x="5372100" y="224028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412" y="2450592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0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Comunidade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26280" y="397764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 colaborativo de promoções semanais de todos os mercados da região, alimentado pelos próprios usuários.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63840" y="1828800"/>
            <a:ext cx="333756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0" y="1828800"/>
            <a:ext cx="333756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4"/>
          <p:cNvSpPr/>
          <p:nvPr/>
        </p:nvSpPr>
        <p:spPr>
          <a:xfrm>
            <a:off x="9029700" y="224028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12" y="2450592"/>
            <a:ext cx="585216" cy="5852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46720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Inteligência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183880" y="397764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monta a lista de compras mais barata automaticamente e mostra quanto o usuário está economizando.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competitivo: recomendação prescritiva de lista de compras por IA — pouco explorada pelos concorrentes atuais no Brasil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Macro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estimado de evolução do produto em três fases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1033272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1828800"/>
            <a:ext cx="640080" cy="64008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19842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2606040"/>
            <a:ext cx="3200400" cy="3566160"/>
          </a:xfrm>
          <a:prstGeom prst="rect">
            <a:avLst/>
          </a:prstGeom>
          <a:solidFill>
            <a:srgbClr val="0B4A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2606040"/>
            <a:ext cx="32004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— Controle de Compras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39776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Escaneamento (código de barras / OCR / NFC-e)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e categorização automática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 relatórios de gastos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1828800"/>
            <a:ext cx="640080" cy="64008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19842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7492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5–8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480560" y="2606040"/>
            <a:ext cx="3200400" cy="3566160"/>
          </a:xfrm>
          <a:prstGeom prst="rect">
            <a:avLst/>
          </a:prstGeom>
          <a:solidFill>
            <a:srgbClr val="0B4A5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80560" y="2606040"/>
            <a:ext cx="320040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4"/>
          <p:cNvSpPr/>
          <p:nvPr/>
        </p:nvSpPr>
        <p:spPr>
          <a:xfrm>
            <a:off x="448056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663440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Comunidade e Promoções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63440" y="39776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 de promoções semanais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Crowdsourcing de preços + gamificação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mercados e cupons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9646920" y="1828800"/>
            <a:ext cx="640080" cy="64008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198424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6112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9–14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366760" y="2606040"/>
            <a:ext cx="3200400" cy="3566160"/>
          </a:xfrm>
          <a:prstGeom prst="rect">
            <a:avLst/>
          </a:prstGeom>
          <a:solidFill>
            <a:srgbClr val="0B4A5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366760" y="2606040"/>
            <a:ext cx="320040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1"/>
          <p:cNvSpPr/>
          <p:nvPr/>
        </p:nvSpPr>
        <p:spPr>
          <a:xfrm>
            <a:off x="836676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549640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Inteligência Artificial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549640" y="39776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compras otimizada por IA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preços e alertas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economia gerada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são estimativas de planejamento e podem ser ajustados conforme velocidade de desenvolvimento e disponibilidade de dados.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MESES 1–4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— Controle de Compras e Escaneamento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17320" y="10515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valor imediato ao usuário e começar a construir a base própria de dados de preços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204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09397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Escaneamento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265176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código de barras (EAN-13/UPC) via câmera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de etiquetas de preço como alternativa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QR Code de NFC-e ao final da compra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manual como fallback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43400" y="1691640"/>
            <a:ext cx="35204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09397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Carrinho em Tempo Real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17720" y="265176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automática do valor total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aproximação do orçamento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manual de itens escaneados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Categorização automática por IA simples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38160" y="1691640"/>
            <a:ext cx="35204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2093976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0684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Histórico e Relatórios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412480" y="265176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compras por data/mercado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gastos mensais por categoria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por unidade (R$/kg, R$/L)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 preferências do usuário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MESES 5–8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Comunidade e Promoções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17320" y="10515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rede colaborativa de preços e promoções regionais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204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09397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Mural de Promoções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265176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semanais de todos os mercados da região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semanal automatizada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categoria, distância e validade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43400" y="1691640"/>
            <a:ext cx="35204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09397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Crowdsourcing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17720" y="265176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reportam preços com foto/comprovante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Gamificação: pontos, níveis e emblemas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estatísticos contra dados inconsistentes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queda de preço e ofertas relâmpago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38160" y="1691640"/>
            <a:ext cx="35204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2093976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0684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Mercados e Cupons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412480" y="265176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mercados favoritos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Geolocalização e rota entre mercados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complementar de cupons/cashback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MESES 9–14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Inteligência Artificial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417320" y="10515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dados acumulados em recomendação automática de economia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204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09397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 Inteligente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265176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informa itens desejados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cruza com preços e promoções ativas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ótima da compra entre mercados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produtos substitutos mais baratos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43400" y="1691640"/>
            <a:ext cx="35204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09397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Previsão de Preços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17720" y="265176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de alta/baixa por produto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proativos de reabastecimento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momento estimado para comprar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38160" y="1691640"/>
            <a:ext cx="352044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2093976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0684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Relatório de Economia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412480" y="2651760"/>
            <a:ext cx="2971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o usuário economizou no período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Comparativo: com IA vs. sem o aplicativo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Métrica-chave de retenção e fidelização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Metas de Sucesso (12 meses pós-lançamento)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965960"/>
          </a:xfrm>
          <a:prstGeom prst="rect">
            <a:avLst/>
          </a:prstGeom>
          <a:solidFill>
            <a:srgbClr val="0B4A5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1965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6276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755648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361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50.000+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22402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ativos mensais (MAU)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371600"/>
            <a:ext cx="3520440" cy="1965960"/>
          </a:xfrm>
          <a:prstGeom prst="rect">
            <a:avLst/>
          </a:prstGeom>
          <a:solidFill>
            <a:srgbClr val="0B4A50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1371600"/>
            <a:ext cx="73152" cy="1965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Shape 8"/>
          <p:cNvSpPr/>
          <p:nvPr/>
        </p:nvSpPr>
        <p:spPr>
          <a:xfrm>
            <a:off x="4636008" y="16276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75564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5361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R$ 80–150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663440" y="22402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média reportada / usuário / mês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1371600"/>
            <a:ext cx="3520440" cy="1965960"/>
          </a:xfrm>
          <a:prstGeom prst="rect">
            <a:avLst/>
          </a:prstGeom>
          <a:solidFill>
            <a:srgbClr val="0B4A50"/>
          </a:solidFill>
          <a:ln/>
        </p:spPr>
      </p:sp>
      <p:sp>
        <p:nvSpPr>
          <p:cNvPr id="16" name="Shape 12"/>
          <p:cNvSpPr/>
          <p:nvPr/>
        </p:nvSpPr>
        <p:spPr>
          <a:xfrm>
            <a:off x="8138160" y="1371600"/>
            <a:ext cx="73152" cy="1965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Shape 13"/>
          <p:cNvSpPr/>
          <p:nvPr/>
        </p:nvSpPr>
        <p:spPr>
          <a:xfrm>
            <a:off x="8430768" y="16276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1755648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98280" y="15361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milhão+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458200" y="22402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contribuídos pela comunidade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657600"/>
            <a:ext cx="3520440" cy="1965960"/>
          </a:xfrm>
          <a:prstGeom prst="rect">
            <a:avLst/>
          </a:prstGeom>
          <a:solidFill>
            <a:srgbClr val="0B4A50"/>
          </a:solidFill>
          <a:ln/>
        </p:spPr>
      </p:sp>
      <p:sp>
        <p:nvSpPr>
          <p:cNvPr id="22" name="Shape 17"/>
          <p:cNvSpPr/>
          <p:nvPr/>
        </p:nvSpPr>
        <p:spPr>
          <a:xfrm>
            <a:off x="548640" y="3657600"/>
            <a:ext cx="73152" cy="1965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39136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041648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38221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10+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868680" y="45262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com cobertura ativa de promoções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343400" y="3657600"/>
            <a:ext cx="3520440" cy="1965960"/>
          </a:xfrm>
          <a:prstGeom prst="rect">
            <a:avLst/>
          </a:prstGeom>
          <a:solidFill>
            <a:srgbClr val="0B4A50"/>
          </a:solidFill>
          <a:ln/>
        </p:spPr>
      </p:sp>
      <p:sp>
        <p:nvSpPr>
          <p:cNvPr id="28" name="Shape 22"/>
          <p:cNvSpPr/>
          <p:nvPr/>
        </p:nvSpPr>
        <p:spPr>
          <a:xfrm>
            <a:off x="4343400" y="3657600"/>
            <a:ext cx="73152" cy="1965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Shape 23"/>
          <p:cNvSpPr/>
          <p:nvPr/>
        </p:nvSpPr>
        <p:spPr>
          <a:xfrm>
            <a:off x="4636008" y="39136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041648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03520" y="38221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35%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4663440" y="45262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mensal (M1)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138160" y="3657600"/>
            <a:ext cx="3520440" cy="1965960"/>
          </a:xfrm>
          <a:prstGeom prst="rect">
            <a:avLst/>
          </a:prstGeom>
          <a:solidFill>
            <a:srgbClr val="0B4A50"/>
          </a:solidFill>
          <a:ln/>
        </p:spPr>
      </p:sp>
      <p:sp>
        <p:nvSpPr>
          <p:cNvPr id="34" name="Shape 27"/>
          <p:cNvSpPr/>
          <p:nvPr/>
        </p:nvSpPr>
        <p:spPr>
          <a:xfrm>
            <a:off x="8138160" y="3657600"/>
            <a:ext cx="73152" cy="1965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Shape 28"/>
          <p:cNvSpPr/>
          <p:nvPr/>
        </p:nvSpPr>
        <p:spPr>
          <a:xfrm>
            <a:off x="8430768" y="39136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4041648"/>
            <a:ext cx="246888" cy="2468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098280" y="38221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10%</a:t>
            </a:r>
            <a:endParaRPr lang="en-US" sz="2200" dirty="0"/>
          </a:p>
        </p:txBody>
      </p:sp>
      <p:sp>
        <p:nvSpPr>
          <p:cNvPr id="38" name="Text 30"/>
          <p:cNvSpPr/>
          <p:nvPr/>
        </p:nvSpPr>
        <p:spPr>
          <a:xfrm>
            <a:off x="8458200" y="45262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custo total vs. compra em 1 mercado (motor de IA)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13A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774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94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480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validação à execução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63440" y="777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777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0" y="6858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 escopo e priorização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0" y="10972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este roadmap com stakeholders e ajustar prazos conforme capacidade da equipe.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60620" y="1399032"/>
            <a:ext cx="0" cy="777240"/>
          </a:xfrm>
          <a:prstGeom prst="line">
            <a:avLst/>
          </a:prstGeom>
          <a:noFill/>
          <a:ln w="19050">
            <a:solidFill>
              <a:srgbClr val="D9E8E6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663440" y="21945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0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Definir arquitetura técnica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0" y="25146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do banco de preços/produtos, pipeline de ingestão de NFC-e e escolha de stack mobile.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60620" y="2816352"/>
            <a:ext cx="0" cy="777240"/>
          </a:xfrm>
          <a:prstGeom prst="line">
            <a:avLst/>
          </a:prstGeom>
          <a:noFill/>
          <a:ln w="19050">
            <a:solidFill>
              <a:srgbClr val="D9E8E6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4663440" y="36118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86400" y="35204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 de cold start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8640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parcerias iniciais com mercados locais para popular a base de preços antes do lançamento.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60620" y="4233672"/>
            <a:ext cx="0" cy="777240"/>
          </a:xfrm>
          <a:prstGeom prst="line">
            <a:avLst/>
          </a:prstGeom>
          <a:noFill/>
          <a:ln w="19050">
            <a:solidFill>
              <a:srgbClr val="D9E8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4663440" y="50292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486400" y="49377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Construir e lançar o MVP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486400" y="53492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a Fase 1 (escaneamento, carrinho e categorização) e coletar feedback dos primeiros usuários.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EconoMerc — Roadmap Visual</dc:title>
  <dc:subject>PptxGenJS Presentation</dc:subject>
  <dc:creator>Mateus Bonfim de Souza</dc:creator>
  <lastModifiedBy>Mateus Bonfim de Souza</lastModifiedBy>
  <revision>1</revision>
  <dcterms:created xsi:type="dcterms:W3CDTF">2026-09-22T14:35:38.8362156Z</dcterms:created>
  <dcterms:modified xsi:type="dcterms:W3CDTF">2026-09-22T14:35:38.8362156Z</dcterms:modified>
</coreProperties>
</file>